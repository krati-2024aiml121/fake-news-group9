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Fake News Detection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Comprehensive Performance Comparison</a:t>
            </a:r>
            <a:endParaRPr lang="en-US"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Linear SVM | Logistic Regression | Naive Bayes | CNN</a:t>
            </a:r>
            <a:endParaRPr lang="en-US" dirty="0"/>
          </a:p>
          <a:p>
            <a:pPr>
              <a:defRPr sz="1800">
                <a:solidFill>
                  <a:srgbClr val="333333"/>
                </a:solidFill>
              </a:defRPr>
            </a:pPr>
            <a:endParaRPr lang="en-IN"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BITS Pilani - Group 9</a:t>
            </a:r>
            <a:endParaRPr lang="en-US"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440510" cy="452596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Research Objectives</a:t>
            </a:r>
          </a:p>
          <a:p>
            <a:pPr lvl="1"/>
            <a:r>
              <a:rPr dirty="0"/>
              <a:t>Compare four different machine learning approaches for fake news detection</a:t>
            </a:r>
            <a:endParaRPr lang="en-US" dirty="0"/>
          </a:p>
          <a:p>
            <a:pPr lvl="1"/>
            <a:r>
              <a:rPr dirty="0"/>
              <a:t>Analyze performance metrics: Accuracy, Precision, Recall, F1-Score, ROC-AUC</a:t>
            </a:r>
          </a:p>
          <a:p>
            <a:pPr lvl="1"/>
            <a:r>
              <a:rPr dirty="0"/>
              <a:t>Evaluate computational efficiency and training time</a:t>
            </a:r>
          </a:p>
          <a:p>
            <a:pPr lvl="1"/>
            <a:r>
              <a:rPr dirty="0"/>
              <a:t>Provide recommendations for different use cases</a:t>
            </a:r>
          </a:p>
          <a:p>
            <a:pPr>
              <a:defRPr b="1"/>
            </a:pPr>
            <a:r>
              <a:rPr dirty="0"/>
              <a:t>Models Compared:</a:t>
            </a:r>
          </a:p>
          <a:p>
            <a:pPr lvl="1"/>
            <a:r>
              <a:rPr dirty="0"/>
              <a:t>1. Linear SVM with TF-IDF</a:t>
            </a:r>
          </a:p>
          <a:p>
            <a:pPr lvl="1"/>
            <a:r>
              <a:rPr dirty="0"/>
              <a:t>2. Logistic Regression</a:t>
            </a:r>
          </a:p>
          <a:p>
            <a:pPr lvl="1"/>
            <a:r>
              <a:rPr dirty="0"/>
              <a:t>3. Naive Bayes</a:t>
            </a:r>
          </a:p>
          <a:p>
            <a:pPr lvl="1"/>
            <a:r>
              <a:rPr dirty="0"/>
              <a:t>4. CNN Deep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5269" y="148514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/>
              <a:t>Performance Metrics Comparison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77A5BB-4919-2D35-A354-A6B813047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624909"/>
              </p:ext>
            </p:extLst>
          </p:nvPr>
        </p:nvGraphicFramePr>
        <p:xfrm>
          <a:off x="1287517" y="1476703"/>
          <a:ext cx="9475078" cy="4461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3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3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3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33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33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43607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dirty="0"/>
                        <a:t>Model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dirty="0"/>
                        <a:t>Accuracy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dirty="0"/>
                        <a:t>Precision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dirty="0"/>
                        <a:t>Recall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dirty="0"/>
                        <a:t>F1-Score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dirty="0"/>
                        <a:t>ROC-AUC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dirty="0"/>
                        <a:t>Training Time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607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Linear SVM</a:t>
                      </a:r>
                    </a:p>
                  </a:txBody>
                  <a:tcPr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99.71%</a:t>
                      </a:r>
                    </a:p>
                  </a:txBody>
                  <a:tcPr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~99.7%</a:t>
                      </a:r>
                    </a:p>
                  </a:txBody>
                  <a:tcPr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~99.7%</a:t>
                      </a:r>
                    </a:p>
                  </a:txBody>
                  <a:tcPr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~99.7%</a:t>
                      </a:r>
                    </a:p>
                  </a:txBody>
                  <a:tcPr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0.28s</a:t>
                      </a:r>
                    </a:p>
                  </a:txBody>
                  <a:tcPr>
                    <a:solidFill>
                      <a:srgbClr val="90EE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607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~99.40%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~99.4%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~99.4%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~99.4%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607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dirty="0"/>
                        <a:t>~95-96%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dirty="0"/>
                        <a:t>~96%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Very Fast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3607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CNN 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~97-98%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3607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dirty="0"/>
                        <a:t>CNN Multi-Filter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~98-99%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dirty="0"/>
                        <a:t>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🏆 Linear SVM - The Clear Winner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Outstanding Performance</a:t>
            </a:r>
          </a:p>
          <a:p>
            <a:pPr marL="0" indent="0">
              <a:buNone/>
              <a:defRPr sz="1600"/>
            </a:pPr>
            <a:r>
              <a:rPr lang="en-US" dirty="0"/>
              <a:t>	</a:t>
            </a:r>
            <a:r>
              <a:rPr dirty="0"/>
              <a:t>✅ Highest Accuracy: 99.71%</a:t>
            </a:r>
          </a:p>
          <a:p>
            <a:pPr marL="0" indent="0">
              <a:buNone/>
              <a:defRPr sz="1600"/>
            </a:pPr>
            <a:r>
              <a:rPr lang="en-US" dirty="0"/>
              <a:t>	</a:t>
            </a:r>
            <a:r>
              <a:rPr dirty="0"/>
              <a:t>✅ Perfect ROC-AUC: 1.0000</a:t>
            </a:r>
          </a:p>
          <a:p>
            <a:pPr marL="0" indent="0">
              <a:buNone/>
              <a:defRPr sz="1600"/>
            </a:pPr>
            <a:r>
              <a:rPr lang="en-US" dirty="0"/>
              <a:t>	</a:t>
            </a:r>
            <a:r>
              <a:rPr dirty="0"/>
              <a:t>✅ Lightning Fast Training: 0.28 seconds</a:t>
            </a:r>
          </a:p>
          <a:p>
            <a:pPr marL="0" indent="0">
              <a:buNone/>
              <a:defRPr sz="1600"/>
            </a:pPr>
            <a:r>
              <a:rPr lang="en-US" dirty="0"/>
              <a:t>	</a:t>
            </a:r>
            <a:r>
              <a:rPr dirty="0"/>
              <a:t>✅ Excellent Stability: 99.71% ± 0.17%</a:t>
            </a:r>
          </a:p>
          <a:p>
            <a:pPr marL="0" indent="0">
              <a:buNone/>
              <a:defRPr sz="1600"/>
            </a:pPr>
            <a:r>
              <a:rPr lang="en-US" dirty="0"/>
              <a:t>	</a:t>
            </a:r>
            <a:r>
              <a:rPr dirty="0"/>
              <a:t>✅ Minimal Error Rate: Only 0.29%</a:t>
            </a:r>
          </a:p>
          <a:p>
            <a:pPr>
              <a:defRPr sz="1800" b="1"/>
            </a:pPr>
            <a:r>
              <a:rPr dirty="0"/>
              <a:t>Key Strengths</a:t>
            </a:r>
          </a:p>
          <a:p>
            <a:pPr lvl="1">
              <a:defRPr sz="1400"/>
            </a:pPr>
            <a:r>
              <a:rPr dirty="0"/>
              <a:t>Memory efficient and scalable</a:t>
            </a:r>
          </a:p>
          <a:p>
            <a:pPr lvl="1">
              <a:defRPr sz="1400"/>
            </a:pPr>
            <a:r>
              <a:rPr dirty="0"/>
              <a:t>Production ready</a:t>
            </a:r>
          </a:p>
          <a:p>
            <a:pPr lvl="1">
              <a:defRPr sz="1400"/>
            </a:pPr>
            <a:r>
              <a:rPr dirty="0"/>
              <a:t>Robust to overfitting</a:t>
            </a:r>
          </a:p>
          <a:p>
            <a:pPr lvl="1">
              <a:defRPr sz="1400"/>
            </a:pPr>
            <a:r>
              <a:rPr dirty="0"/>
              <a:t>Excellent for high-dimensional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1297" y="16002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Model Performance Visualization</a:t>
            </a:r>
            <a:br>
              <a:rPr lang="en-IN" dirty="0"/>
            </a:br>
            <a:endParaRPr dirty="0"/>
          </a:p>
        </p:txBody>
      </p:sp>
      <p:pic>
        <p:nvPicPr>
          <p:cNvPr id="4" name="Picture 3" descr="accurac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Classification Performance</a:t>
            </a:r>
          </a:p>
          <a:p>
            <a:pPr lvl="1">
              <a:defRPr sz="1600" b="1"/>
            </a:pPr>
            <a:r>
              <a:rPr dirty="0"/>
              <a:t>Linear SVM: Nearly perfect classification</a:t>
            </a:r>
          </a:p>
          <a:p>
            <a:pPr lvl="2">
              <a:defRPr sz="1400"/>
            </a:pPr>
            <a:r>
              <a:rPr dirty="0"/>
              <a:t>True Positives (</a:t>
            </a:r>
            <a:r>
              <a:rPr dirty="0" err="1"/>
              <a:t>Real→Real</a:t>
            </a:r>
            <a:r>
              <a:rPr dirty="0"/>
              <a:t>): 99.7%</a:t>
            </a:r>
          </a:p>
          <a:p>
            <a:pPr lvl="2">
              <a:defRPr sz="1400"/>
            </a:pPr>
            <a:r>
              <a:rPr dirty="0"/>
              <a:t>True Negatives (</a:t>
            </a:r>
            <a:r>
              <a:rPr dirty="0" err="1"/>
              <a:t>Fake→Fake</a:t>
            </a:r>
            <a:r>
              <a:rPr dirty="0"/>
              <a:t>): 99.7%</a:t>
            </a:r>
          </a:p>
          <a:p>
            <a:pPr lvl="2">
              <a:defRPr sz="1400"/>
            </a:pPr>
            <a:r>
              <a:rPr dirty="0"/>
              <a:t>False Positives: &lt;0.3%</a:t>
            </a:r>
          </a:p>
          <a:p>
            <a:pPr lvl="2">
              <a:defRPr sz="1400"/>
            </a:pPr>
            <a:r>
              <a:rPr dirty="0"/>
              <a:t>False Negatives: &lt;0.3%</a:t>
            </a:r>
          </a:p>
          <a:p>
            <a:pPr lvl="1">
              <a:defRPr sz="1600" b="1"/>
            </a:pPr>
            <a:r>
              <a:rPr dirty="0"/>
              <a:t>All models show excellent performance:</a:t>
            </a:r>
          </a:p>
          <a:p>
            <a:pPr lvl="2">
              <a:defRPr sz="1400"/>
            </a:pPr>
            <a:r>
              <a:rPr dirty="0"/>
              <a:t>Linear SVM: Best overall accuracy</a:t>
            </a:r>
          </a:p>
          <a:p>
            <a:pPr lvl="2">
              <a:defRPr sz="1400"/>
            </a:pPr>
            <a:r>
              <a:rPr dirty="0"/>
              <a:t>Logistic Regression: Very similar to SVM</a:t>
            </a:r>
          </a:p>
          <a:p>
            <a:pPr lvl="2">
              <a:defRPr sz="1400"/>
            </a:pPr>
            <a:r>
              <a:rPr dirty="0"/>
              <a:t>CNN: Good but slightly more errors</a:t>
            </a:r>
          </a:p>
          <a:p>
            <a:pPr lvl="2">
              <a:defRPr sz="1400"/>
            </a:pPr>
            <a:r>
              <a:rPr dirty="0"/>
              <a:t>Naive Bayes: More errors but still strong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Key Discriminative Features</a:t>
            </a:r>
          </a:p>
          <a:p>
            <a:pPr marL="400050" lvl="1" indent="0">
              <a:buNone/>
              <a:defRPr sz="1600" b="1">
                <a:solidFill>
                  <a:srgbClr val="FF6666"/>
                </a:solidFill>
              </a:defRPr>
            </a:pPr>
            <a:r>
              <a:rPr dirty="0"/>
              <a:t>🔴 Fake News Indicators:</a:t>
            </a:r>
          </a:p>
          <a:p>
            <a:pPr lvl="2">
              <a:defRPr sz="1400"/>
            </a:pPr>
            <a:r>
              <a:rPr dirty="0"/>
              <a:t>'video'</a:t>
            </a:r>
          </a:p>
          <a:p>
            <a:pPr lvl="2">
              <a:defRPr sz="1400"/>
            </a:pPr>
            <a:r>
              <a:rPr dirty="0"/>
              <a:t>'breaking'</a:t>
            </a:r>
          </a:p>
          <a:p>
            <a:pPr lvl="2">
              <a:defRPr sz="1400"/>
            </a:pPr>
            <a:r>
              <a:rPr dirty="0"/>
              <a:t>'featured image'</a:t>
            </a:r>
          </a:p>
          <a:p>
            <a:pPr lvl="2">
              <a:defRPr sz="1400"/>
            </a:pPr>
            <a:r>
              <a:rPr dirty="0"/>
              <a:t>'shocking'</a:t>
            </a:r>
          </a:p>
          <a:p>
            <a:pPr lvl="2">
              <a:defRPr sz="1400"/>
            </a:pPr>
            <a:r>
              <a:rPr dirty="0"/>
              <a:t>'exclusive'</a:t>
            </a:r>
          </a:p>
          <a:p>
            <a:pPr lvl="2">
              <a:defRPr sz="1400"/>
            </a:pPr>
            <a:r>
              <a:rPr dirty="0"/>
              <a:t>'must see'</a:t>
            </a:r>
          </a:p>
          <a:p>
            <a:pPr marL="400050" lvl="1" indent="0">
              <a:buNone/>
              <a:defRPr sz="1600" b="1">
                <a:solidFill>
                  <a:srgbClr val="66CC66"/>
                </a:solidFill>
              </a:defRPr>
            </a:pPr>
            <a:r>
              <a:rPr dirty="0"/>
              <a:t>✅ Real News Indicators:</a:t>
            </a:r>
          </a:p>
          <a:p>
            <a:pPr lvl="2">
              <a:defRPr sz="1400"/>
            </a:pPr>
            <a:r>
              <a:rPr dirty="0"/>
              <a:t>'</a:t>
            </a:r>
            <a:r>
              <a:rPr dirty="0" err="1"/>
              <a:t>reuters'</a:t>
            </a:r>
            <a:endParaRPr dirty="0"/>
          </a:p>
          <a:p>
            <a:pPr lvl="2">
              <a:defRPr sz="1400"/>
            </a:pPr>
            <a:r>
              <a:rPr dirty="0"/>
              <a:t>'</a:t>
            </a:r>
            <a:r>
              <a:rPr dirty="0" err="1"/>
              <a:t>washington</a:t>
            </a:r>
            <a:r>
              <a:rPr dirty="0"/>
              <a:t> </a:t>
            </a:r>
            <a:r>
              <a:rPr dirty="0" err="1"/>
              <a:t>reuters'</a:t>
            </a:r>
            <a:endParaRPr dirty="0"/>
          </a:p>
          <a:p>
            <a:pPr lvl="2">
              <a:defRPr sz="1400"/>
            </a:pPr>
            <a:r>
              <a:rPr dirty="0"/>
              <a:t>'said'</a:t>
            </a:r>
          </a:p>
          <a:p>
            <a:pPr lvl="2">
              <a:defRPr sz="1400"/>
            </a:pPr>
            <a:r>
              <a:rPr dirty="0"/>
              <a:t>'</a:t>
            </a:r>
            <a:r>
              <a:rPr dirty="0" err="1"/>
              <a:t>factbox</a:t>
            </a:r>
            <a:r>
              <a:rPr dirty="0"/>
              <a:t>'</a:t>
            </a:r>
          </a:p>
          <a:p>
            <a:pPr lvl="2">
              <a:defRPr sz="1400"/>
            </a:pPr>
            <a:r>
              <a:rPr dirty="0"/>
              <a:t>'according'</a:t>
            </a:r>
          </a:p>
          <a:p>
            <a:pPr lvl="2">
              <a:defRPr sz="1400"/>
            </a:pPr>
            <a:r>
              <a:rPr dirty="0"/>
              <a:t>'official'</a:t>
            </a:r>
          </a:p>
          <a:p>
            <a:pPr marL="400050" lvl="1" indent="0">
              <a:buNone/>
              <a:defRPr sz="1600" b="1"/>
            </a:pPr>
            <a:r>
              <a:rPr dirty="0"/>
              <a:t>🎯 Key Insights:</a:t>
            </a:r>
          </a:p>
          <a:p>
            <a:pPr lvl="2">
              <a:defRPr sz="1400"/>
            </a:pPr>
            <a:r>
              <a:rPr dirty="0"/>
              <a:t>Source attribution words favor real news</a:t>
            </a:r>
          </a:p>
          <a:p>
            <a:pPr lvl="2">
              <a:defRPr sz="1400"/>
            </a:pPr>
            <a:r>
              <a:rPr dirty="0"/>
              <a:t>Sensational language indicates fake news</a:t>
            </a:r>
          </a:p>
          <a:p>
            <a:pPr lvl="2">
              <a:defRPr sz="1400"/>
            </a:pPr>
            <a:r>
              <a:rPr dirty="0"/>
              <a:t>All models show consistent interpretation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Choose the Right Model for Your Use Case</a:t>
            </a:r>
          </a:p>
          <a:p>
            <a:pPr marL="400050" lvl="1" indent="0">
              <a:buNone/>
              <a:defRPr sz="1600" b="1"/>
            </a:pPr>
            <a:r>
              <a:rPr dirty="0"/>
              <a:t>🏭 Production Systems</a:t>
            </a:r>
          </a:p>
          <a:p>
            <a:pPr lvl="2">
              <a:defRPr sz="1400" b="1"/>
            </a:pPr>
            <a:r>
              <a:rPr dirty="0"/>
              <a:t>Recommended: Linear SVM</a:t>
            </a:r>
          </a:p>
          <a:p>
            <a:pPr lvl="2">
              <a:defRPr sz="1200"/>
            </a:pPr>
            <a:r>
              <a:rPr dirty="0"/>
              <a:t>Why: Best accuracy-speed trade-off</a:t>
            </a:r>
          </a:p>
          <a:p>
            <a:pPr marL="400050" lvl="1" indent="0">
              <a:buNone/>
              <a:defRPr sz="1600" b="1"/>
            </a:pPr>
            <a:r>
              <a:rPr dirty="0"/>
              <a:t>🔬 Research &amp; Analysis</a:t>
            </a:r>
          </a:p>
          <a:p>
            <a:pPr lvl="2">
              <a:defRPr sz="1400" b="1"/>
            </a:pPr>
            <a:r>
              <a:rPr dirty="0"/>
              <a:t>Recommended: Logistic Regression</a:t>
            </a:r>
          </a:p>
          <a:p>
            <a:pPr lvl="2">
              <a:defRPr sz="1200"/>
            </a:pPr>
            <a:r>
              <a:rPr dirty="0"/>
              <a:t>Why: Excellent interpretability</a:t>
            </a:r>
          </a:p>
          <a:p>
            <a:pPr marL="400050" lvl="1" indent="0">
              <a:buNone/>
              <a:defRPr sz="1600" b="1"/>
            </a:pPr>
            <a:r>
              <a:rPr dirty="0"/>
              <a:t>⚡ Quick Prototyping</a:t>
            </a:r>
          </a:p>
          <a:p>
            <a:pPr lvl="2">
              <a:defRPr sz="1400" b="1"/>
            </a:pPr>
            <a:r>
              <a:rPr dirty="0"/>
              <a:t>Recommended: Naive Bayes</a:t>
            </a:r>
          </a:p>
          <a:p>
            <a:pPr lvl="2">
              <a:defRPr sz="1200"/>
            </a:pPr>
            <a:r>
              <a:rPr dirty="0"/>
              <a:t>Why: Fastest implementation</a:t>
            </a:r>
          </a:p>
          <a:p>
            <a:pPr marL="400050" lvl="1" indent="0">
              <a:buNone/>
              <a:defRPr sz="1600" b="1"/>
            </a:pPr>
            <a:r>
              <a:rPr dirty="0"/>
              <a:t>🧠 Advanced Research</a:t>
            </a:r>
          </a:p>
          <a:p>
            <a:pPr lvl="2">
              <a:defRPr sz="1400" b="1"/>
            </a:pPr>
            <a:r>
              <a:rPr dirty="0"/>
              <a:t>Recommended: CNN Models</a:t>
            </a:r>
          </a:p>
          <a:p>
            <a:pPr lvl="2">
              <a:defRPr sz="1200"/>
            </a:pPr>
            <a:r>
              <a:rPr dirty="0"/>
              <a:t>Why: Complex pattern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🔍 Key Research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Important Discoveries</a:t>
            </a:r>
          </a:p>
          <a:p>
            <a:pPr lvl="1">
              <a:defRPr sz="1400" b="1">
                <a:solidFill>
                  <a:srgbClr val="0066CC"/>
                </a:solidFill>
              </a:defRPr>
            </a:pPr>
            <a:r>
              <a:rPr dirty="0"/>
              <a:t>Traditional ML outperforms Deep Learning for this dataset</a:t>
            </a:r>
          </a:p>
          <a:p>
            <a:pPr lvl="1">
              <a:defRPr sz="1400" b="1">
                <a:solidFill>
                  <a:srgbClr val="0066CC"/>
                </a:solidFill>
              </a:defRPr>
            </a:pPr>
            <a:r>
              <a:rPr dirty="0"/>
              <a:t>Linear SVM achieves perfect discrimination with minimal cost</a:t>
            </a:r>
          </a:p>
          <a:p>
            <a:pPr lvl="1">
              <a:defRPr sz="1400"/>
            </a:pPr>
            <a:r>
              <a:rPr dirty="0"/>
              <a:t>Feature engineering with TF-IDF is highly effective</a:t>
            </a:r>
          </a:p>
          <a:p>
            <a:pPr lvl="1">
              <a:defRPr sz="1400"/>
            </a:pPr>
            <a:r>
              <a:rPr dirty="0"/>
              <a:t>Model complexity doesn't always mean better performance</a:t>
            </a:r>
          </a:p>
          <a:p>
            <a:pPr lvl="1">
              <a:defRPr sz="1400"/>
            </a:pPr>
            <a:r>
              <a:rPr dirty="0"/>
              <a:t>All models achieve excellent performance (&gt;95% accuracy)</a:t>
            </a:r>
          </a:p>
          <a:p>
            <a:pPr lvl="1">
              <a:defRPr sz="1400"/>
            </a:pPr>
            <a:r>
              <a:rPr dirty="0"/>
              <a:t>Simpler models can be more effective when:</a:t>
            </a:r>
          </a:p>
          <a:p>
            <a:pPr lvl="2">
              <a:defRPr sz="1200"/>
            </a:pPr>
            <a:r>
              <a:rPr dirty="0"/>
              <a:t>• Dataset size is moderate</a:t>
            </a:r>
          </a:p>
          <a:p>
            <a:pPr lvl="2">
              <a:defRPr sz="1200"/>
            </a:pPr>
            <a:r>
              <a:rPr dirty="0"/>
              <a:t>• Feature engineering is well-done</a:t>
            </a:r>
          </a:p>
          <a:p>
            <a:pPr lvl="2">
              <a:defRPr sz="1200"/>
            </a:pPr>
            <a:r>
              <a:rPr dirty="0"/>
              <a:t>• Computational efficiency matters</a:t>
            </a:r>
          </a:p>
          <a:p>
            <a:pPr lvl="2">
              <a:defRPr sz="1200"/>
            </a:pPr>
            <a:r>
              <a:rPr dirty="0"/>
              <a:t>• Interpretability is valued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Final Verdict</a:t>
            </a:r>
          </a:p>
          <a:p>
            <a:pPr marL="400050" lvl="1" indent="0">
              <a:buNone/>
              <a:defRPr sz="2000" b="1">
                <a:solidFill>
                  <a:srgbClr val="0066CC"/>
                </a:solidFill>
              </a:defRPr>
            </a:pPr>
            <a:r>
              <a:rPr dirty="0"/>
              <a:t>🏆 Linear SVM is the Clear Winner!</a:t>
            </a:r>
          </a:p>
          <a:p>
            <a:pPr lvl="2">
              <a:defRPr sz="1400"/>
            </a:pPr>
            <a:r>
              <a:rPr dirty="0"/>
              <a:t>✨ 99.71% accuracy with perfect ROC-AUC</a:t>
            </a:r>
          </a:p>
          <a:p>
            <a:pPr lvl="2">
              <a:defRPr sz="1400"/>
            </a:pPr>
            <a:r>
              <a:rPr dirty="0"/>
              <a:t>⚡ Lightning-fast training (0.28 seconds)</a:t>
            </a:r>
          </a:p>
          <a:p>
            <a:pPr lvl="2">
              <a:defRPr sz="1400"/>
            </a:pPr>
            <a:r>
              <a:rPr dirty="0"/>
              <a:t>🚀 Production-ready with minimal resources</a:t>
            </a:r>
          </a:p>
          <a:p>
            <a:pPr lvl="2">
              <a:defRPr sz="1400"/>
            </a:pPr>
            <a:r>
              <a:rPr dirty="0"/>
              <a:t>📈 Excellent stability and reliability</a:t>
            </a:r>
          </a:p>
          <a:p>
            <a:pPr marL="400050" lvl="1" indent="0">
              <a:buNone/>
              <a:defRPr sz="1600" b="1"/>
            </a:pPr>
            <a:r>
              <a:rPr dirty="0"/>
              <a:t>Key Principle:</a:t>
            </a:r>
          </a:p>
          <a:p>
            <a:pPr lvl="2">
              <a:defRPr sz="1400" i="1">
                <a:solidFill>
                  <a:srgbClr val="333333"/>
                </a:solidFill>
              </a:defRPr>
            </a:pPr>
            <a:r>
              <a:rPr dirty="0"/>
              <a:t>Model complexity should match problem complexity</a:t>
            </a:r>
          </a:p>
          <a:p>
            <a:pPr marL="400050" lvl="1" indent="0">
              <a:buNone/>
              <a:defRPr sz="1600" b="1"/>
            </a:pPr>
            <a:r>
              <a:rPr dirty="0"/>
              <a:t>Future Considerations:</a:t>
            </a:r>
          </a:p>
          <a:p>
            <a:pPr lvl="2">
              <a:defRPr sz="1200"/>
            </a:pPr>
            <a:r>
              <a:rPr dirty="0"/>
              <a:t>Ensemble methods for further improvement</a:t>
            </a:r>
          </a:p>
          <a:p>
            <a:pPr lvl="2">
              <a:defRPr sz="1200"/>
            </a:pPr>
            <a:r>
              <a:rPr dirty="0"/>
              <a:t>Cross-validation with different news sources</a:t>
            </a:r>
          </a:p>
          <a:p>
            <a:pPr lvl="2">
              <a:defRPr sz="1200"/>
            </a:pPr>
            <a:r>
              <a:rPr dirty="0"/>
              <a:t>Regular retraining for evolving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0066CC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Questions &amp; Discussion</a:t>
            </a:r>
            <a:endParaRPr lang="en-US" dirty="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Fake News Detection Models Comparison</a:t>
            </a:r>
            <a:endParaRPr lang="en-US" dirty="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BITS Pilani - Group 9</a:t>
            </a:r>
            <a:endParaRPr lang="en-US" dirty="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Linear SVM emerges as the clear winner with</a:t>
            </a:r>
            <a:endParaRPr lang="en-US" dirty="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99.71% accuracy and perfect ROC-AUC!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606</Words>
  <Application>Microsoft Macintosh PowerPoint</Application>
  <PresentationFormat>Custom</PresentationFormat>
  <Paragraphs>150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Fake News Detection Models</vt:lpstr>
      <vt:lpstr>Overview</vt:lpstr>
      <vt:lpstr>Performance Metrics Comparison</vt:lpstr>
      <vt:lpstr>🏆 Linear SVM - The Clear Winner</vt:lpstr>
      <vt:lpstr>Model Performance Visualization </vt:lpstr>
      <vt:lpstr>Confusion Matrix Analysis</vt:lpstr>
      <vt:lpstr>Feature Importance Analysis</vt:lpstr>
      <vt:lpstr>Deployment Recommendations</vt:lpstr>
      <vt:lpstr>🔍 Key Research Findings</vt:lpstr>
      <vt:lpstr>🎯 Conclusions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SUMANTA KUMAR ROUT</cp:lastModifiedBy>
  <cp:revision>14</cp:revision>
  <dcterms:created xsi:type="dcterms:W3CDTF">2013-01-27T09:14:16Z</dcterms:created>
  <dcterms:modified xsi:type="dcterms:W3CDTF">2025-10-12T14:43:35Z</dcterms:modified>
  <cp:category/>
</cp:coreProperties>
</file>